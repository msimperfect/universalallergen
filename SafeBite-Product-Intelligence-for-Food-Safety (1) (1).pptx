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Mukta Light" panose="020B0604020202020204" charset="0"/>
      <p:regular r:id="rId12"/>
    </p:embeddedFont>
    <p:embeddedFont>
      <p:font typeface="Prompt Light" panose="00000400000000000000" pitchFamily="2" charset="-34"/>
      <p:regular r:id="rId13"/>
    </p:embeddedFont>
    <p:embeddedFont>
      <p:font typeface="Prompt Medium" panose="00000600000000000000" pitchFamily="2" charset="-3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00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505908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SafeBite: Product Intelligence for Food Safety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933593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real-time safety platform protecting users with food allergies and dietary restrictions through intelligent product analysis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71074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Core Idea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361248"/>
            <a:ext cx="8175665" cy="45630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9539" y="2273975"/>
            <a:ext cx="362188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Protection Layer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49539" y="2863691"/>
            <a:ext cx="412432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SafeBite bridges the gap between complex ingredient lists and your biological needs, translating chemical data into simple, actionable safety signals.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649539" y="5061109"/>
            <a:ext cx="4124325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Whether you're managing peanut allergies, following a vegan lifestyle, or avoiding gluten, the platform provides instant</a:t>
            </a: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r>
              <a:rPr lang="en-US" sz="1900" b="1" dirty="0">
                <a:solidFill>
                  <a:srgbClr val="FF5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</a:t>
            </a: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/</a:t>
            </a:r>
            <a:r>
              <a:rPr lang="en-US" sz="1900" b="1" dirty="0">
                <a:solidFill>
                  <a:srgbClr val="F9D933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Yellow</a:t>
            </a:r>
            <a:r>
              <a:rPr lang="en-US" sz="19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/</a:t>
            </a:r>
            <a:r>
              <a:rPr lang="en-US" sz="1900" b="1" dirty="0">
                <a:solidFill>
                  <a:srgbClr val="5CC97B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Green</a:t>
            </a: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light indicators for informed decisions.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60038"/>
            <a:ext cx="1035284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Technology Stack: Hybrid Architecture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43959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balanced approach combining local development agility with scalable cloud infrastructure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112294"/>
            <a:ext cx="6327696" cy="2200275"/>
          </a:xfrm>
          <a:prstGeom prst="roundRect">
            <a:avLst>
              <a:gd name="adj" fmla="val 4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6093" y="337435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126093" y="3865364"/>
            <a:ext cx="580358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Node.js using native http module for maximum control without bulky framework overhead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549" y="3112294"/>
            <a:ext cx="6327815" cy="2200275"/>
          </a:xfrm>
          <a:prstGeom prst="roundRect">
            <a:avLst>
              <a:gd name="adj" fmla="val 471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0605" y="337435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Database &amp; Auth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700605" y="3865364"/>
            <a:ext cx="58037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Firebase Admin SDK for global profiles and community features, with file-based JSON storage for local authentication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4037" y="5559385"/>
            <a:ext cx="12902327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6093" y="582144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Security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126093" y="6312456"/>
            <a:ext cx="123782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dotenv for secret management and scrypt for secure password hashing with crypto protection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4812" y="1315283"/>
            <a:ext cx="3990023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Design Philosophy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114812" y="2009775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14812" y="2292072"/>
            <a:ext cx="7887176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6" name="Text 3"/>
          <p:cNvSpPr/>
          <p:nvPr/>
        </p:nvSpPr>
        <p:spPr>
          <a:xfrm>
            <a:off x="6114812" y="2427565"/>
            <a:ext cx="245899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Glassmorphism Aesthetic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114812" y="2755344"/>
            <a:ext cx="788717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Backdrop-filter blur effects with semi-transparent backgrounds create a futuristic, clean visual language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14812" y="3268504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14812" y="3550801"/>
            <a:ext cx="7887176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0" name="Text 7"/>
          <p:cNvSpPr/>
          <p:nvPr/>
        </p:nvSpPr>
        <p:spPr>
          <a:xfrm>
            <a:off x="6114812" y="3686294"/>
            <a:ext cx="206692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Persistent Navigation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114812" y="4014073"/>
            <a:ext cx="788717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Sidebar provides consistent access to features while maintaining focus on content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14812" y="4527233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14812" y="4809530"/>
            <a:ext cx="7887176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4" name="Text 11"/>
          <p:cNvSpPr/>
          <p:nvPr/>
        </p:nvSpPr>
        <p:spPr>
          <a:xfrm>
            <a:off x="6114812" y="4945023"/>
            <a:ext cx="2303502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Two-Column Dashboard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114812" y="5272802"/>
            <a:ext cx="788717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Main action area on left with contextual status information on right for optimal workflow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14812" y="5785961"/>
            <a:ext cx="179546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14812" y="6068258"/>
            <a:ext cx="7887176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8" name="Text 15"/>
          <p:cNvSpPr/>
          <p:nvPr/>
        </p:nvSpPr>
        <p:spPr>
          <a:xfrm>
            <a:off x="6114812" y="6203752"/>
            <a:ext cx="199501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Traffic Light System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114812" y="6531531"/>
            <a:ext cx="788717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Immediate cognitive recognition through intuitive colour-coded safety indicators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5306" y="862608"/>
            <a:ext cx="7572375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Natural Language Processing Engine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95306" y="1864042"/>
            <a:ext cx="7403663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Sophisticated text processing techniques ensure accurate allergen detection and matching: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495306" y="2581156"/>
            <a:ext cx="2370653" cy="2702123"/>
          </a:xfrm>
          <a:prstGeom prst="roundRect">
            <a:avLst>
              <a:gd name="adj" fmla="val 4629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95306" y="2558296"/>
            <a:ext cx="2370653" cy="91440"/>
          </a:xfrm>
          <a:prstGeom prst="roundRect">
            <a:avLst>
              <a:gd name="adj" fmla="val 87169"/>
            </a:avLst>
          </a:prstGeom>
          <a:solidFill>
            <a:srgbClr val="A95B95"/>
          </a:solidFill>
          <a:ln/>
        </p:spPr>
      </p:sp>
      <p:sp>
        <p:nvSpPr>
          <p:cNvPr id="6" name="Shape 4"/>
          <p:cNvSpPr/>
          <p:nvPr/>
        </p:nvSpPr>
        <p:spPr>
          <a:xfrm>
            <a:off x="2395954" y="2296597"/>
            <a:ext cx="569238" cy="569238"/>
          </a:xfrm>
          <a:prstGeom prst="roundRect">
            <a:avLst>
              <a:gd name="adj" fmla="val 160636"/>
            </a:avLst>
          </a:prstGeom>
          <a:solidFill>
            <a:srgbClr val="A95B95"/>
          </a:solidFill>
          <a:ln/>
        </p:spPr>
      </p:sp>
      <p:sp>
        <p:nvSpPr>
          <p:cNvPr id="7" name="Text 5"/>
          <p:cNvSpPr/>
          <p:nvPr/>
        </p:nvSpPr>
        <p:spPr>
          <a:xfrm>
            <a:off x="2566690" y="2438876"/>
            <a:ext cx="22764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707833" y="3055501"/>
            <a:ext cx="194560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Normalization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07833" y="3464838"/>
            <a:ext cx="1945600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Text sanitization removes accents (NFD), converts to lowercase, and strips special characters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011811" y="2581156"/>
            <a:ext cx="2370653" cy="2702123"/>
          </a:xfrm>
          <a:prstGeom prst="roundRect">
            <a:avLst>
              <a:gd name="adj" fmla="val 4629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11811" y="2558296"/>
            <a:ext cx="2370653" cy="91440"/>
          </a:xfrm>
          <a:prstGeom prst="roundRect">
            <a:avLst>
              <a:gd name="adj" fmla="val 87169"/>
            </a:avLst>
          </a:prstGeom>
          <a:solidFill>
            <a:srgbClr val="A95B95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2459" y="2296597"/>
            <a:ext cx="569238" cy="569238"/>
          </a:xfrm>
          <a:prstGeom prst="roundRect">
            <a:avLst>
              <a:gd name="adj" fmla="val 160636"/>
            </a:avLst>
          </a:prstGeom>
          <a:solidFill>
            <a:srgbClr val="A95B95"/>
          </a:solidFill>
          <a:ln/>
        </p:spPr>
      </p:sp>
      <p:sp>
        <p:nvSpPr>
          <p:cNvPr id="13" name="Text 11"/>
          <p:cNvSpPr/>
          <p:nvPr/>
        </p:nvSpPr>
        <p:spPr>
          <a:xfrm>
            <a:off x="5083195" y="2438876"/>
            <a:ext cx="22764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224338" y="3055501"/>
            <a:ext cx="1945600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Stemming &amp; Lemmatization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224338" y="3728323"/>
            <a:ext cx="1945600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 singularize/pluralize methods ensure "Peanut" matches "Peanuts"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28316" y="2581156"/>
            <a:ext cx="2370653" cy="2702123"/>
          </a:xfrm>
          <a:prstGeom prst="roundRect">
            <a:avLst>
              <a:gd name="adj" fmla="val 4629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28316" y="2558296"/>
            <a:ext cx="2370653" cy="91440"/>
          </a:xfrm>
          <a:prstGeom prst="roundRect">
            <a:avLst>
              <a:gd name="adj" fmla="val 87169"/>
            </a:avLst>
          </a:prstGeom>
          <a:solidFill>
            <a:srgbClr val="A95B95"/>
          </a:solidFill>
          <a:ln/>
        </p:spPr>
      </p:sp>
      <p:sp>
        <p:nvSpPr>
          <p:cNvPr id="18" name="Shape 16"/>
          <p:cNvSpPr/>
          <p:nvPr/>
        </p:nvSpPr>
        <p:spPr>
          <a:xfrm>
            <a:off x="7428964" y="2296597"/>
            <a:ext cx="569238" cy="569238"/>
          </a:xfrm>
          <a:prstGeom prst="roundRect">
            <a:avLst>
              <a:gd name="adj" fmla="val 160636"/>
            </a:avLst>
          </a:prstGeom>
          <a:solidFill>
            <a:srgbClr val="A95B95"/>
          </a:solidFill>
          <a:ln/>
        </p:spPr>
      </p:sp>
      <p:sp>
        <p:nvSpPr>
          <p:cNvPr id="19" name="Text 17"/>
          <p:cNvSpPr/>
          <p:nvPr/>
        </p:nvSpPr>
        <p:spPr>
          <a:xfrm>
            <a:off x="7599700" y="2438876"/>
            <a:ext cx="22764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740843" y="3055501"/>
            <a:ext cx="1945600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Tokenization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740843" y="3464838"/>
            <a:ext cx="1945600" cy="80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Split ingredients by delimiters to avoid partial match errors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495306" y="5713690"/>
            <a:ext cx="7403663" cy="1364694"/>
          </a:xfrm>
          <a:prstGeom prst="roundRect">
            <a:avLst>
              <a:gd name="adj" fmla="val 8040"/>
            </a:avLst>
          </a:prstGeom>
          <a:solidFill>
            <a:srgbClr val="0B0C23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95306" y="5690830"/>
            <a:ext cx="7403663" cy="91440"/>
          </a:xfrm>
          <a:prstGeom prst="roundRect">
            <a:avLst>
              <a:gd name="adj" fmla="val 87169"/>
            </a:avLst>
          </a:prstGeom>
          <a:solidFill>
            <a:srgbClr val="A95B95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2459" y="5429131"/>
            <a:ext cx="569238" cy="569238"/>
          </a:xfrm>
          <a:prstGeom prst="roundRect">
            <a:avLst>
              <a:gd name="adj" fmla="val 160636"/>
            </a:avLst>
          </a:prstGeom>
          <a:solidFill>
            <a:srgbClr val="A95B95"/>
          </a:solidFill>
          <a:ln/>
        </p:spPr>
      </p:sp>
      <p:sp>
        <p:nvSpPr>
          <p:cNvPr id="25" name="Text 23"/>
          <p:cNvSpPr/>
          <p:nvPr/>
        </p:nvSpPr>
        <p:spPr>
          <a:xfrm>
            <a:off x="5083195" y="5571411"/>
            <a:ext cx="227647" cy="284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1707833" y="6188035"/>
            <a:ext cx="2108597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Alias Mapping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707833" y="6597372"/>
            <a:ext cx="697861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Recursive library recognizes "Butter" and "Whey" as dairy triggers</a:t>
            </a:r>
            <a:endParaRPr lang="en-US" sz="145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504" y="1772483"/>
            <a:ext cx="3772972" cy="503062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369504" y="6967180"/>
            <a:ext cx="3772972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3677" y="825103"/>
            <a:ext cx="7456646" cy="133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API Integrations: Global Food Intelligence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77" y="2517577"/>
            <a:ext cx="1205389" cy="17202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4452" y="2758559"/>
            <a:ext cx="267866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Open Food Facts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2284452" y="3234571"/>
            <a:ext cx="601587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Primary source for international barcodes and ingredient tags across 163 countries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677" y="4237792"/>
            <a:ext cx="1205389" cy="17202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4452" y="4478774"/>
            <a:ext cx="3068122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USDA FoodData Central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2284452" y="4954786"/>
            <a:ext cx="6015871" cy="76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Fallback source and primary branded food data for US products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77" y="5958007"/>
            <a:ext cx="1205389" cy="14464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84452" y="6198989"/>
            <a:ext cx="2678668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Internal RESTful API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2284452" y="6675001"/>
            <a:ext cx="6015871" cy="38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Custom endpoints for profiles, history, and community alerts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92323" y="637461"/>
            <a:ext cx="3567232" cy="445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SafeBite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52819" y="1532811"/>
            <a:ext cx="160496" cy="722233"/>
          </a:xfrm>
          <a:prstGeom prst="roundRect">
            <a:avLst>
              <a:gd name="adj" fmla="val 4200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2323" y="1427440"/>
            <a:ext cx="481489" cy="481489"/>
          </a:xfrm>
          <a:prstGeom prst="roundRect">
            <a:avLst>
              <a:gd name="adj" fmla="val 9495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2695" y="1547813"/>
            <a:ext cx="240744" cy="240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78110" y="1452563"/>
            <a:ext cx="1799392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Profile Configuration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978110" y="1737955"/>
            <a:ext cx="9259967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User sets blacklist (e.g., Peanuts) or dietary preferences (e.g., Vegan)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93563" y="2600206"/>
            <a:ext cx="160496" cy="722233"/>
          </a:xfrm>
          <a:prstGeom prst="roundRect">
            <a:avLst>
              <a:gd name="adj" fmla="val 4200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33067" y="2494836"/>
            <a:ext cx="481489" cy="481489"/>
          </a:xfrm>
          <a:prstGeom prst="roundRect">
            <a:avLst>
              <a:gd name="adj" fmla="val 9495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3439" y="2615208"/>
            <a:ext cx="240744" cy="240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18855" y="2519958"/>
            <a:ext cx="1833563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Search/Scan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18855" y="2805351"/>
            <a:ext cx="9019223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Scan barcode or search product name in database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3034308" y="3667601"/>
            <a:ext cx="160496" cy="722233"/>
          </a:xfrm>
          <a:prstGeom prst="roundRect">
            <a:avLst>
              <a:gd name="adj" fmla="val 4200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73812" y="3562231"/>
            <a:ext cx="481489" cy="481489"/>
          </a:xfrm>
          <a:prstGeom prst="roundRect">
            <a:avLst>
              <a:gd name="adj" fmla="val 9495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94184" y="3682603"/>
            <a:ext cx="240744" cy="240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9599" y="3587353"/>
            <a:ext cx="1783556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Fetching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59599" y="3872746"/>
            <a:ext cx="8778478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Server retrieves ingredient list and allergen tags from global databases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275171" y="4734997"/>
            <a:ext cx="160496" cy="722233"/>
          </a:xfrm>
          <a:prstGeom prst="roundRect">
            <a:avLst>
              <a:gd name="adj" fmla="val 4200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114675" y="4629626"/>
            <a:ext cx="481489" cy="481489"/>
          </a:xfrm>
          <a:prstGeom prst="roundRect">
            <a:avLst>
              <a:gd name="adj" fmla="val 9495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5047" y="4749998"/>
            <a:ext cx="240744" cy="240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00463" y="4654748"/>
            <a:ext cx="1783556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Analysis Engine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700463" y="4940141"/>
            <a:ext cx="8537615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Engine cross-references product against user profile using NLP techniques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3034308" y="5802392"/>
            <a:ext cx="160496" cy="722233"/>
          </a:xfrm>
          <a:prstGeom prst="roundRect">
            <a:avLst>
              <a:gd name="adj" fmla="val 4200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2873812" y="5697022"/>
            <a:ext cx="481489" cy="481489"/>
          </a:xfrm>
          <a:prstGeom prst="roundRect">
            <a:avLst>
              <a:gd name="adj" fmla="val 9495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4184" y="5817394"/>
            <a:ext cx="240744" cy="240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459599" y="5722144"/>
            <a:ext cx="1783556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Safety Signal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459599" y="6007537"/>
            <a:ext cx="8778478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Returns Red, Yellow, or Green light based on risk level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2793563" y="6869787"/>
            <a:ext cx="160496" cy="722233"/>
          </a:xfrm>
          <a:prstGeom prst="roundRect">
            <a:avLst>
              <a:gd name="adj" fmla="val 4200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633067" y="6764417"/>
            <a:ext cx="481489" cy="481489"/>
          </a:xfrm>
          <a:prstGeom prst="roundRect">
            <a:avLst>
              <a:gd name="adj" fmla="val 94955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3439" y="6884789"/>
            <a:ext cx="240744" cy="240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218855" y="6789539"/>
            <a:ext cx="1783556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Substitutes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218855" y="7074932"/>
            <a:ext cx="9019223" cy="211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Suggests 3-6 safe alternatives from USDA database if product is unsafe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04" y="923449"/>
            <a:ext cx="4529971" cy="56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Safety Signals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063704" y="1991439"/>
            <a:ext cx="4052768" cy="1477089"/>
          </a:xfrm>
          <a:prstGeom prst="roundRect">
            <a:avLst>
              <a:gd name="adj" fmla="val 5796"/>
            </a:avLst>
          </a:prstGeom>
          <a:solidFill>
            <a:srgbClr val="FF5000"/>
          </a:solidFill>
          <a:ln w="7620">
            <a:solidFill>
              <a:srgbClr val="FF691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75159" y="2202894"/>
            <a:ext cx="2264926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🔴</a:t>
            </a: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Red Light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275159" y="2661761"/>
            <a:ext cx="362985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High risk - Direct match detected. Contains the allergen or ingredient you've flagged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63704" y="3636764"/>
            <a:ext cx="4052768" cy="1774746"/>
          </a:xfrm>
          <a:prstGeom prst="roundRect">
            <a:avLst>
              <a:gd name="adj" fmla="val 4824"/>
            </a:avLst>
          </a:prstGeom>
          <a:solidFill>
            <a:srgbClr val="F578DE"/>
          </a:solidFill>
          <a:ln w="7620">
            <a:solidFill>
              <a:srgbClr val="DB5E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5159" y="3848219"/>
            <a:ext cx="2264926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🟡 Yellow Light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275159" y="4307086"/>
            <a:ext cx="3629858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Moderate risk - Traces or cross-contamination possible. Manufacturer warnings apply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3704" y="5579745"/>
            <a:ext cx="4052768" cy="1477089"/>
          </a:xfrm>
          <a:prstGeom prst="roundRect">
            <a:avLst>
              <a:gd name="adj" fmla="val 5796"/>
            </a:avLst>
          </a:prstGeom>
          <a:solidFill>
            <a:srgbClr val="1A561C"/>
          </a:solidFill>
          <a:ln w="7620">
            <a:solidFill>
              <a:srgbClr val="336F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5159" y="5791200"/>
            <a:ext cx="2264926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🟢</a:t>
            </a:r>
            <a:r>
              <a:rPr lang="en-US" sz="17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Green Light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75159" y="6250067"/>
            <a:ext cx="362985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Safe to consume - No detected risk based on your profile parameters</a:t>
            </a:r>
            <a:endParaRPr lang="en-US" sz="1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298" y="1931432"/>
            <a:ext cx="7952780" cy="44386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21298" y="6559391"/>
            <a:ext cx="795278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signal includes detailed reasoning, detected ingredients, and supporting evidence from the ingredient analysis.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0533" y="860822"/>
            <a:ext cx="5353764" cy="54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Unique SafeBite Features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0533" y="1636038"/>
            <a:ext cx="586383" cy="5863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0533" y="2415897"/>
            <a:ext cx="3097292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Community Warning Registry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170533" y="2780228"/>
            <a:ext cx="7775734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Crowdsourced feed where users report unlisted allergens, labeling errors, and real-time product issues for collective safety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0533" y="3650099"/>
            <a:ext cx="586383" cy="5863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0533" y="4429958"/>
            <a:ext cx="2171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Cross-API Fallback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170533" y="4794290"/>
            <a:ext cx="7775734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Automatic database switching ensures coverage - if barcode isn't in Open Food Facts (Europe), system checks USDA (US) seamlessly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0533" y="5664160"/>
            <a:ext cx="586383" cy="5863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0533" y="6444020"/>
            <a:ext cx="304954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Secure Session Management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6170533" y="6808351"/>
            <a:ext cx="7775734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Cookie-based authentication with 30-day Time-To-Live ensures persistent yet secure access across sessions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Custom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Prompt Medium</vt:lpstr>
      <vt:lpstr>Mukta Light</vt:lpstr>
      <vt:lpstr>Prompt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Nimisha Gaurav</cp:lastModifiedBy>
  <cp:revision>2</cp:revision>
  <dcterms:created xsi:type="dcterms:W3CDTF">2026-04-07T08:42:40Z</dcterms:created>
  <dcterms:modified xsi:type="dcterms:W3CDTF">2026-04-07T08:52:40Z</dcterms:modified>
</cp:coreProperties>
</file>